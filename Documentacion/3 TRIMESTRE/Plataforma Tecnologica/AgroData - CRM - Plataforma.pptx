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Eb8zod10AQDahqmWoq76PJ9sK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04C2CC4-E7E6-4DE5-9BDB-1EB8B572C326}">
  <a:tblStyle styleId="{404C2CC4-E7E6-4DE5-9BDB-1EB8B572C32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B3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28090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00A89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8745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PROYECTO AGRODATA CRM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" y="2240280"/>
            <a:ext cx="10058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Selección de la Plataforma Tecnológica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E0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CADCE0"/>
                </a:solidFill>
                <a:latin typeface="Calibri"/>
                <a:ea typeface="Calibri"/>
                <a:cs typeface="Calibri"/>
                <a:sym typeface="Calibri"/>
              </a:rPr>
              <a:t>Taller práctico — Marletti Company S.A.S.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3977640"/>
            <a:ext cx="1188720" cy="3657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822960" y="4251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Juan Manuel Gómez García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463600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Karol Tatiana Delgado Arias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22960" y="5020056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Cristian Camilo Cetina Español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/>
          <p:nvPr/>
        </p:nvSpPr>
        <p:spPr>
          <a:xfrm>
            <a:off x="548640" y="1043525"/>
            <a:ext cx="9144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El caso: AgroData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548615" y="1984780"/>
            <a:ext cx="5852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450"/>
              <a:buFont typeface="Calibri"/>
              <a:buNone/>
            </a:pPr>
            <a:r>
              <a:rPr b="0" i="0" lang="en-US" sz="205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Marletti Company S.A.S. necesita un sistema para que sus 6 distribuidores </a:t>
            </a:r>
            <a:r>
              <a:rPr lang="en-US" sz="205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gestionan</a:t>
            </a:r>
            <a:r>
              <a:rPr b="0" i="0" lang="en-US" sz="205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 clientes, visitas comerciales, oportunidades de venta y compromisos con 600 clientes en total.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48640" y="3840475"/>
            <a:ext cx="58521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450"/>
              <a:buFont typeface="Calibri"/>
              <a:buNone/>
            </a:pPr>
            <a:r>
              <a:rPr b="0" i="0" lang="en-US" sz="205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Requiere acceso desde celular y computador, funcionamiento sin conexión a internet en campo, e importación periódica de datos contables desde el sistema ISA en formato CSV/XLSX.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858000" y="1143000"/>
            <a:ext cx="4754880" cy="1188720"/>
          </a:xfrm>
          <a:prstGeom prst="roundRect">
            <a:avLst>
              <a:gd fmla="val 6923" name="adj"/>
            </a:avLst>
          </a:prstGeom>
          <a:solidFill>
            <a:srgbClr val="0B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7086600" y="1252728"/>
            <a:ext cx="1463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8503920" y="1143000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distribuidores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858000" y="2560320"/>
            <a:ext cx="4754880" cy="1188720"/>
          </a:xfrm>
          <a:prstGeom prst="roundRect">
            <a:avLst>
              <a:gd fmla="val 6923" name="adj"/>
            </a:avLst>
          </a:prstGeom>
          <a:solidFill>
            <a:srgbClr val="0B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7086600" y="2670048"/>
            <a:ext cx="1463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600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8503920" y="2560320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clientes en total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858000" y="3977640"/>
            <a:ext cx="4754880" cy="1188720"/>
          </a:xfrm>
          <a:prstGeom prst="roundRect">
            <a:avLst>
              <a:gd fmla="val 6923" name="adj"/>
            </a:avLst>
          </a:prstGeom>
          <a:solidFill>
            <a:srgbClr val="0B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7086600" y="4087368"/>
            <a:ext cx="1463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8503920" y="3977640"/>
            <a:ext cx="29260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conexión requerida en campo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AgroData CRM — Plataforma Tecnológica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10252273" y="223240"/>
            <a:ext cx="1188600" cy="11886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app.png" id="50" name="Google Shape;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9128" y="508483"/>
            <a:ext cx="618134" cy="61813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548640" y="594360"/>
            <a:ext cx="8961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2700"/>
              <a:buFont typeface="Cambria"/>
              <a:buNone/>
            </a:pPr>
            <a:r>
              <a:rPr b="1" i="0" lang="en-US" sz="3000" u="none" cap="none" strike="noStrike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Tipo de aplicación: PWA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48640" y="1594725"/>
            <a:ext cx="10698600" cy="822900"/>
          </a:xfrm>
          <a:prstGeom prst="roundRect">
            <a:avLst>
              <a:gd fmla="val 8889" name="adj"/>
            </a:avLst>
          </a:prstGeom>
          <a:solidFill>
            <a:srgbClr val="F3F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822997" y="1600288"/>
            <a:ext cx="101499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50"/>
              <a:buFont typeface="Calibri"/>
              <a:buNone/>
            </a:pPr>
            <a:r>
              <a:rPr b="0" i="1" lang="en-US" sz="205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Aplicación Web Progresiva (PWA) — instalable en móvil, accesible desde computador, funciona sin conexión y sincroniza al reconectar.</a:t>
            </a:r>
            <a:endParaRPr b="0" i="0" sz="2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48640" y="2788923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mbria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¿Por qué una PWA?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48640" y="3291840"/>
            <a:ext cx="106984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2200"/>
              <a:buFont typeface="Calibri"/>
              <a:buChar char="▪"/>
            </a:pPr>
            <a:r>
              <a:rPr b="0" i="0" lang="en-US" sz="220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Los distribuidores registran visitas y compromisos desde el campo, muchas veces sin conexión a internet.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A2E"/>
              </a:buClr>
              <a:buSzPts val="2200"/>
              <a:buFont typeface="Calibri"/>
              <a:buChar char="▪"/>
            </a:pPr>
            <a:r>
              <a:rPr b="0" i="0" lang="en-US" sz="220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La gerencia necesita un dashboard completo desde el computador.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A2E"/>
              </a:buClr>
              <a:buSzPts val="2200"/>
              <a:buFont typeface="Calibri"/>
              <a:buChar char="▪"/>
            </a:pPr>
            <a:r>
              <a:rPr b="0" i="0" lang="en-US" sz="220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Una sola base de código funciona en Android, iOS y escritorio.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A2E"/>
              </a:buClr>
              <a:buSzPts val="2200"/>
              <a:buFont typeface="Calibri"/>
              <a:buChar char="▪"/>
            </a:pPr>
            <a:r>
              <a:rPr b="0" i="0" lang="en-US" sz="220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El soporte offline se logra mediante Service Workers, sin el costo de desarrollar apps nativas separadas.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AgroData CRM — Plataforma Tecnológica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9966960" y="320040"/>
            <a:ext cx="1188720" cy="11887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frontend.png"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2253" y="605333"/>
            <a:ext cx="618134" cy="61813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548640" y="744960"/>
            <a:ext cx="8961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2700"/>
              <a:buFont typeface="Cambria"/>
              <a:buNone/>
            </a:pPr>
            <a:r>
              <a:rPr b="1" lang="en-US" sz="3000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Frontend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7215825" y="2283737"/>
            <a:ext cx="1430400" cy="1197600"/>
          </a:xfrm>
          <a:prstGeom prst="roundRect">
            <a:avLst>
              <a:gd fmla="val 49091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120450" lIns="120450" spcFirstLastPara="1" rIns="120450" wrap="square" tIns="12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7215825" y="2283737"/>
            <a:ext cx="14304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200" lIns="120450" spcFirstLastPara="1" rIns="120450" wrap="square" tIns="60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5"/>
              <a:buFont typeface="Calibri"/>
              <a:buNone/>
            </a:pPr>
            <a:r>
              <a:rPr b="1" i="0" lang="en-US" sz="15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HTML5</a:t>
            </a:r>
            <a:endParaRPr b="0" i="0" sz="15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8800621" y="2283737"/>
            <a:ext cx="1430400" cy="1197600"/>
          </a:xfrm>
          <a:prstGeom prst="roundRect">
            <a:avLst>
              <a:gd fmla="val 49091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120450" lIns="120450" spcFirstLastPara="1" rIns="120450" wrap="square" tIns="12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8800621" y="2283737"/>
            <a:ext cx="14304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200" lIns="120450" spcFirstLastPara="1" rIns="120450" wrap="square" tIns="60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5"/>
              <a:buFont typeface="Calibri"/>
              <a:buNone/>
            </a:pPr>
            <a:r>
              <a:rPr b="1" i="0" lang="en-US" sz="15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CSS3</a:t>
            </a:r>
            <a:endParaRPr b="0" i="0" sz="15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0385417" y="2283737"/>
            <a:ext cx="1430400" cy="1197600"/>
          </a:xfrm>
          <a:prstGeom prst="roundRect">
            <a:avLst>
              <a:gd fmla="val 49091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120450" lIns="120450" spcFirstLastPara="1" rIns="120450" wrap="square" tIns="12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10385417" y="2283737"/>
            <a:ext cx="14304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200" lIns="120450" spcFirstLastPara="1" rIns="120450" wrap="square" tIns="60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5"/>
              <a:buFont typeface="Calibri"/>
              <a:buNone/>
            </a:pPr>
            <a:r>
              <a:rPr b="1" i="0" lang="en-US" sz="15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15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215825" y="4025921"/>
            <a:ext cx="1430400" cy="1197600"/>
          </a:xfrm>
          <a:prstGeom prst="roundRect">
            <a:avLst>
              <a:gd fmla="val 49091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120450" lIns="120450" spcFirstLastPara="1" rIns="120450" wrap="square" tIns="12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7215825" y="4025921"/>
            <a:ext cx="14304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200" lIns="120450" spcFirstLastPara="1" rIns="120450" wrap="square" tIns="60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5"/>
              <a:buFont typeface="Calibri"/>
              <a:buNone/>
            </a:pPr>
            <a:r>
              <a:rPr b="1" i="0" lang="en-US" sz="15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Bootstrap</a:t>
            </a:r>
            <a:endParaRPr b="0" i="0" sz="15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800621" y="4025921"/>
            <a:ext cx="1430400" cy="1197600"/>
          </a:xfrm>
          <a:prstGeom prst="roundRect">
            <a:avLst>
              <a:gd fmla="val 49091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120450" lIns="120450" spcFirstLastPara="1" rIns="120450" wrap="square" tIns="12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8800621" y="4025921"/>
            <a:ext cx="14304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200" lIns="120450" spcFirstLastPara="1" rIns="120450" wrap="square" tIns="60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5"/>
              <a:buFont typeface="Calibri"/>
              <a:buNone/>
            </a:pPr>
            <a:r>
              <a:rPr b="1" i="0" lang="en-US" sz="15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Workers</a:t>
            </a:r>
            <a:endParaRPr b="0" i="0" sz="15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10385417" y="4025921"/>
            <a:ext cx="1430400" cy="1197600"/>
          </a:xfrm>
          <a:prstGeom prst="roundRect">
            <a:avLst>
              <a:gd fmla="val 49091" name="adj"/>
            </a:avLst>
          </a:prstGeom>
          <a:solidFill>
            <a:srgbClr val="00A896"/>
          </a:solidFill>
          <a:ln>
            <a:noFill/>
          </a:ln>
        </p:spPr>
        <p:txBody>
          <a:bodyPr anchorCtr="0" anchor="ctr" bIns="120450" lIns="120450" spcFirstLastPara="1" rIns="120450" wrap="square" tIns="12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0385417" y="4025921"/>
            <a:ext cx="1430400" cy="11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200" lIns="120450" spcFirstLastPara="1" rIns="120450" wrap="square" tIns="60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15"/>
              <a:buFont typeface="Calibri"/>
              <a:buNone/>
            </a:pPr>
            <a:r>
              <a:rPr b="1" i="0" lang="en-US" sz="151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IndexedDB (Dexie.js)</a:t>
            </a:r>
            <a:endParaRPr b="0" i="0" sz="15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48650" y="1508750"/>
            <a:ext cx="8423400" cy="10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500"/>
              <a:buFont typeface="Cambria"/>
              <a:buNone/>
            </a:pPr>
            <a:r>
              <a:rPr b="1" i="0" lang="en-US" sz="2300" u="none" cap="none" strike="noStrike">
                <a:solidFill>
                  <a:srgbClr val="00A896"/>
                </a:solidFill>
                <a:latin typeface="Cambria"/>
                <a:ea typeface="Cambria"/>
                <a:cs typeface="Cambria"/>
                <a:sym typeface="Cambria"/>
              </a:rPr>
              <a:t>Diseño responsivo y funcionamiento sin conexión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51" y="2503850"/>
            <a:ext cx="5844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950"/>
              <a:buFont typeface="Calibri"/>
              <a:buChar char="▪"/>
            </a:pPr>
            <a:r>
              <a:rPr b="0" i="0" lang="en-US" sz="195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Interfaz por componentes: fichas de clientes, agenda de visitas, pipeline de ventas y reportes.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A2E"/>
              </a:buClr>
              <a:buSzPts val="1950"/>
              <a:buFont typeface="Calibri"/>
              <a:buChar char="▪"/>
            </a:pPr>
            <a:r>
              <a:rPr b="0" i="0" lang="en-US" sz="195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Bootstrap agiliza un diseño responsivo, igual de funcional en un celular en campo que en un monitor de oficina.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E2A2E"/>
              </a:buClr>
              <a:buSzPts val="1950"/>
              <a:buFont typeface="Calibri"/>
              <a:buChar char="▪"/>
            </a:pPr>
            <a:r>
              <a:rPr b="0" i="0" lang="en-US" sz="195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Service Workers + IndexedDB (Dexie.js) guardan localmente visitas y datos de clientes sin señal, y sincronizan al reconectar.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AgroData CRM — Plataforma Tecnológica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0268170" y="6107248"/>
            <a:ext cx="137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fmla="val 50000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PARTE 2 — Karol Tatiana Delgado Arias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9966960" y="320040"/>
            <a:ext cx="1188720" cy="11887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ackend.png" id="90" name="Google Shape;9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2253" y="605333"/>
            <a:ext cx="618134" cy="61813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6"/>
          <p:cNvSpPr/>
          <p:nvPr/>
        </p:nvSpPr>
        <p:spPr>
          <a:xfrm>
            <a:off x="548640" y="1051560"/>
            <a:ext cx="8961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Backend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48640" y="1828800"/>
            <a:ext cx="5120640" cy="4389120"/>
          </a:xfrm>
          <a:prstGeom prst="roundRect">
            <a:avLst>
              <a:gd fmla="val 1667" name="adj"/>
            </a:avLst>
          </a:prstGeom>
          <a:solidFill>
            <a:srgbClr val="0B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822960" y="20574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Python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822972" y="2606055"/>
            <a:ext cx="45720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353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80"/>
              <a:buFont typeface="Calibri"/>
              <a:buChar char="▪"/>
            </a:pPr>
            <a:r>
              <a:rPr lang="en-US" sz="1100">
                <a:solidFill>
                  <a:schemeClr val="lt1"/>
                </a:solidFill>
              </a:rPr>
              <a:t>Lenguaje seleccionado para el desarrollo del backend de AgroData CRM.</a:t>
            </a:r>
            <a:endParaRPr sz="1100">
              <a:solidFill>
                <a:schemeClr val="lt1"/>
              </a:solidFill>
            </a:endParaRPr>
          </a:p>
          <a:p>
            <a:pPr indent="-30353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80"/>
              <a:buFont typeface="Calibri"/>
              <a:buChar char="▪"/>
            </a:pPr>
            <a:r>
              <a:rPr lang="en-US" sz="1100">
                <a:solidFill>
                  <a:schemeClr val="lt1"/>
                </a:solidFill>
              </a:rPr>
              <a:t>Permite procesar y analizar los datos de clientes, distribuidores y oportunidades.</a:t>
            </a:r>
            <a:endParaRPr sz="1100">
              <a:solidFill>
                <a:schemeClr val="lt1"/>
              </a:solidFill>
            </a:endParaRPr>
          </a:p>
          <a:p>
            <a:pPr indent="-30353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80"/>
              <a:buFont typeface="Calibri"/>
              <a:buChar char="▪"/>
            </a:pPr>
            <a:r>
              <a:rPr lang="en-US" sz="1100">
                <a:solidFill>
                  <a:schemeClr val="lt1"/>
                </a:solidFill>
              </a:rPr>
              <a:t>Cuenta con librerías para el procesamiento de archivos </a:t>
            </a:r>
            <a:r>
              <a:rPr b="1" lang="en-US" sz="1100">
                <a:solidFill>
                  <a:schemeClr val="lt1"/>
                </a:solidFill>
              </a:rPr>
              <a:t>CSV/XLSX</a:t>
            </a:r>
            <a:r>
              <a:rPr lang="en-US" sz="1100">
                <a:solidFill>
                  <a:schemeClr val="lt1"/>
                </a:solidFill>
              </a:rPr>
              <a:t>, como pandas.</a:t>
            </a:r>
            <a:endParaRPr sz="1100">
              <a:solidFill>
                <a:schemeClr val="lt1"/>
              </a:solidFill>
            </a:endParaRPr>
          </a:p>
          <a:p>
            <a:pPr indent="-30353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80"/>
              <a:buFont typeface="Calibri"/>
              <a:buChar char="▪"/>
            </a:pPr>
            <a:r>
              <a:rPr lang="en-US" sz="1100">
                <a:solidFill>
                  <a:schemeClr val="lt1"/>
                </a:solidFill>
              </a:rPr>
              <a:t>Facilita el desarrollo de cálculos y pronósticos relacionados con la recompra.</a:t>
            </a:r>
            <a:endParaRPr sz="1100">
              <a:solidFill>
                <a:schemeClr val="lt1"/>
              </a:solidFill>
            </a:endParaRPr>
          </a:p>
          <a:p>
            <a:pPr indent="-30353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80"/>
              <a:buFont typeface="Calibri"/>
              <a:buChar char="▪"/>
            </a:pPr>
            <a:r>
              <a:rPr lang="en-US" sz="1100">
                <a:solidFill>
                  <a:schemeClr val="lt1"/>
                </a:solidFill>
              </a:rPr>
              <a:t>Tiene una amplia variedad de herramientas y librerías para desarrollar aplicaciones web.</a:t>
            </a:r>
            <a:endParaRPr sz="1100">
              <a:solidFill>
                <a:schemeClr val="lt1"/>
              </a:solidFill>
            </a:endParaRPr>
          </a:p>
          <a:p>
            <a:pPr indent="-303530" lvl="0" marL="457200" rtl="0" algn="l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80"/>
              <a:buFont typeface="Calibri"/>
              <a:buChar char="▪"/>
            </a:pPr>
            <a:r>
              <a:rPr lang="en-US" sz="1100">
                <a:solidFill>
                  <a:schemeClr val="lt1"/>
                </a:solidFill>
              </a:rPr>
              <a:t>Su integración con </a:t>
            </a:r>
            <a:r>
              <a:rPr b="1" lang="en-US" sz="1100">
                <a:solidFill>
                  <a:schemeClr val="lt1"/>
                </a:solidFill>
              </a:rPr>
              <a:t>PostgreSQL</a:t>
            </a:r>
            <a:r>
              <a:rPr lang="en-US" sz="1100">
                <a:solidFill>
                  <a:schemeClr val="lt1"/>
                </a:solidFill>
              </a:rPr>
              <a:t> permite trabajar con los datos relacionales del sistema.</a:t>
            </a:r>
            <a:endParaRPr sz="118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943600" y="1828800"/>
            <a:ext cx="5303520" cy="4389120"/>
          </a:xfrm>
          <a:prstGeom prst="roundRect">
            <a:avLst>
              <a:gd fmla="val 1667" name="adj"/>
            </a:avLst>
          </a:prstGeom>
          <a:solidFill>
            <a:srgbClr val="F3F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6217920" y="2057400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700"/>
              <a:buFont typeface="Cambria"/>
              <a:buNone/>
            </a:pPr>
            <a:r>
              <a:rPr b="1" lang="en-US" sz="1700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¿Por qué Python?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6217920" y="2606040"/>
            <a:ext cx="47548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Python se selecciona por su facilidad para procesar información, trabajar con datos y utilizar librerías especializadas. Además, permite integrarse con PostgreSQL para gestionar la información almacenada en la plataforma.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6"/>
          <p:cNvCxnSpPr/>
          <p:nvPr/>
        </p:nvCxnSpPr>
        <p:spPr>
          <a:xfrm>
            <a:off x="6217920" y="4480560"/>
            <a:ext cx="4754880" cy="0"/>
          </a:xfrm>
          <a:prstGeom prst="straightConnector1">
            <a:avLst/>
          </a:prstGeom>
          <a:noFill/>
          <a:ln cap="flat" cmpd="sng" w="12700">
            <a:solidFill>
              <a:srgbClr val="D6E4E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6"/>
          <p:cNvSpPr/>
          <p:nvPr/>
        </p:nvSpPr>
        <p:spPr>
          <a:xfrm>
            <a:off x="6217920" y="46177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028090"/>
                </a:solidFill>
                <a:latin typeface="Cambria"/>
                <a:ea typeface="Cambria"/>
                <a:cs typeface="Cambria"/>
                <a:sym typeface="Cambria"/>
              </a:rPr>
              <a:t>Por qué no PHP + Laravel aquí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217920" y="4983480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80"/>
              <a:buFont typeface="Calibri"/>
              <a:buNone/>
            </a:pPr>
            <a:r>
              <a:rPr b="0" i="0" lang="en-US" sz="118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El proyecto necesita procesar datos (pandas), calcular pronósticos de recompra y mantener relaciones complejas: Django ofrece ese soporte de forma más directa que un stack orientado a aplicaciones web tradicionales.</a:t>
            </a:r>
            <a:endParaRPr b="0" i="0" sz="11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AgroData CRM — Plataforma Tecnológica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fmla="val 50000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PARTE 2 — Karol Tatiana Delgado Arias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9966960" y="320040"/>
            <a:ext cx="1188720" cy="11887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.png" id="111" name="Google Shape;11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2253" y="605333"/>
            <a:ext cx="618134" cy="61813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7"/>
          <p:cNvSpPr/>
          <p:nvPr/>
        </p:nvSpPr>
        <p:spPr>
          <a:xfrm>
            <a:off x="548640" y="1051560"/>
            <a:ext cx="8961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Base de datos: PostgreSQL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48640" y="2011680"/>
            <a:ext cx="2578608" cy="3200400"/>
          </a:xfrm>
          <a:prstGeom prst="roundRect">
            <a:avLst>
              <a:gd fmla="val 2837" name="adj"/>
            </a:avLst>
          </a:prstGeom>
          <a:solidFill>
            <a:srgbClr val="F3F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777240" y="224028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77240" y="22402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77240" y="2788920"/>
            <a:ext cx="21214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Información relacional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77240" y="3337560"/>
            <a:ext cx="212140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Clientes, distribuidores, visitas, oportunidades, órdenes e historial de recompra están vinculados entre sí.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3328416" y="2011680"/>
            <a:ext cx="2578608" cy="3200400"/>
          </a:xfrm>
          <a:prstGeom prst="roundRect">
            <a:avLst>
              <a:gd fmla="val 2837" name="adj"/>
            </a:avLst>
          </a:prstGeom>
          <a:solidFill>
            <a:srgbClr val="F3F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3557016" y="224028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3557016" y="22402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3557016" y="2788920"/>
            <a:ext cx="21214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Integridad referencial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557016" y="3337560"/>
            <a:ext cx="212140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Requerida para mantener consistentes las relaciones del negocio.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108192" y="2011680"/>
            <a:ext cx="2578608" cy="3200400"/>
          </a:xfrm>
          <a:prstGeom prst="roundRect">
            <a:avLst>
              <a:gd fmla="val 2837" name="adj"/>
            </a:avLst>
          </a:prstGeom>
          <a:solidFill>
            <a:srgbClr val="F3F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6336792" y="224028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336792" y="22402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6336792" y="2788920"/>
            <a:ext cx="21214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Volumen y consultas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336792" y="3337560"/>
            <a:ext cx="212140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Soporta sin problema 600 clientes y 6 distribuidores, con consultas complejas para reportes gerenciales.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8887968" y="2011680"/>
            <a:ext cx="2578608" cy="3200400"/>
          </a:xfrm>
          <a:prstGeom prst="roundRect">
            <a:avLst>
              <a:gd fmla="val 2837" name="adj"/>
            </a:avLst>
          </a:prstGeom>
          <a:solidFill>
            <a:srgbClr val="F3F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9116568" y="2240280"/>
            <a:ext cx="411480" cy="4114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9116568" y="22402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9116568" y="2788920"/>
            <a:ext cx="2121408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Integración nativa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9116568" y="3337560"/>
            <a:ext cx="2121408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Django se conecta de forma sencilla con PostgreSQL a través de su ORM.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AgroData CRM — Plataforma Tecnológica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fmla="val 50000" name="adj"/>
            </a:avLst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PARTE 2 — Karol Tatiana Delgado Arias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9966960" y="320040"/>
            <a:ext cx="1188720" cy="11887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o.png" id="143" name="Google Shape;14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2253" y="605333"/>
            <a:ext cx="618134" cy="61813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8"/>
          <p:cNvSpPr/>
          <p:nvPr/>
        </p:nvSpPr>
        <p:spPr>
          <a:xfrm>
            <a:off x="548640" y="1051560"/>
            <a:ext cx="8961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Sistema operativo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548640" y="1965960"/>
            <a:ext cx="1645920" cy="914400"/>
          </a:xfrm>
          <a:prstGeom prst="roundRect">
            <a:avLst>
              <a:gd fmla="val 1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548640" y="196596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Windows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2423160" y="1965960"/>
            <a:ext cx="1645920" cy="914400"/>
          </a:xfrm>
          <a:prstGeom prst="roundRect">
            <a:avLst>
              <a:gd fmla="val 1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2423160" y="196596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Android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297680" y="1965960"/>
            <a:ext cx="1645920" cy="914400"/>
          </a:xfrm>
          <a:prstGeom prst="roundRect">
            <a:avLst>
              <a:gd fmla="val 10000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4297680" y="1965960"/>
            <a:ext cx="1645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48640" y="320040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No se cuenta con dispositivos dedicados para ejecutar el sistema, por lo que la aplicación debe ser compatible con la mayor cantidad de dispositivos posible: computadores de oficina con Windows y los celulares Android o iOS de cada distribuidor en campo.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48640" y="448056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Precisamente por eso se eligió una PWA como tipo de aplicación: una sola base de código cubre estas tres plataformas sin desarrollar apps nativas independientes.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AgroData CRM — Plataforma Tecnológica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fmla="val 50000" name="adj"/>
            </a:avLst>
          </a:prstGeom>
          <a:solidFill>
            <a:srgbClr val="0B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PARTE 3 — Cristian Camilo Cetina Español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9966960" y="320040"/>
            <a:ext cx="1188720" cy="11887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rvidor.png" id="163" name="Google Shape;1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2253" y="605333"/>
            <a:ext cx="618134" cy="61813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/>
          <p:nvPr/>
        </p:nvSpPr>
        <p:spPr>
          <a:xfrm>
            <a:off x="548640" y="1051560"/>
            <a:ext cx="8961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Servidor: Nginx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48640" y="1920240"/>
            <a:ext cx="10698480" cy="3931920"/>
          </a:xfrm>
          <a:prstGeom prst="roundRect">
            <a:avLst>
              <a:gd fmla="val 1860" name="adj"/>
            </a:avLst>
          </a:prstGeom>
          <a:solidFill>
            <a:srgbClr val="F3F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914400" y="2286000"/>
            <a:ext cx="996696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550"/>
              <a:buFont typeface="Calibri"/>
              <a:buChar char="▪"/>
            </a:pPr>
            <a:r>
              <a:rPr b="0" i="0" lang="en-US" sz="155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El aplicativo se aloja principalmente en un servidor cloud; Nginx se elige como pieza dentro de ese entorno.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E2A2E"/>
              </a:buClr>
              <a:buSzPts val="1550"/>
              <a:buFont typeface="Calibri"/>
              <a:buChar char="▪"/>
            </a:pPr>
            <a:r>
              <a:rPr b="0" i="0" lang="en-US" sz="155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Sirve de forma eficiente los archivos estáticos de la PWA (frontend).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E2A2E"/>
              </a:buClr>
              <a:buSzPts val="1550"/>
              <a:buFont typeface="Calibri"/>
              <a:buChar char="▪"/>
            </a:pPr>
            <a:r>
              <a:rPr b="0" i="0" lang="en-US" sz="155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Actúa como proxy inverso hacia la API de Django (backend).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E2A2E"/>
              </a:buClr>
              <a:buSzPts val="1550"/>
              <a:buFont typeface="Calibri"/>
              <a:buChar char="▪"/>
            </a:pPr>
            <a:r>
              <a:rPr b="0" i="0" lang="en-US" sz="155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Maneja bien múltiples conexiones simultáneas: los 6 distribuidores y la gerencia accediendo a la vez.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AgroData CRM — Plataforma Tecnológica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fmla="val 50000" name="adj"/>
            </a:avLst>
          </a:prstGeom>
          <a:solidFill>
            <a:srgbClr val="0B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PARTE 3 — Cristian Camilo Cetina Español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9966960" y="320040"/>
            <a:ext cx="1188720" cy="11887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loud.png" id="177" name="Google Shape;1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2253" y="605333"/>
            <a:ext cx="618134" cy="61813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0"/>
          <p:cNvSpPr/>
          <p:nvPr/>
        </p:nvSpPr>
        <p:spPr>
          <a:xfrm>
            <a:off x="548640" y="1051560"/>
            <a:ext cx="8961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Servicio cloud: AWS Lightsail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48640" y="2057400"/>
            <a:ext cx="3383280" cy="3108960"/>
          </a:xfrm>
          <a:prstGeom prst="roundRect">
            <a:avLst>
              <a:gd fmla="val 2647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777240" y="233172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Capa gratuita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777240" y="3200400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6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F6F3"/>
                </a:solidFill>
                <a:latin typeface="Calibri"/>
                <a:ea typeface="Calibri"/>
                <a:cs typeface="Calibri"/>
                <a:sym typeface="Calibri"/>
              </a:rPr>
              <a:t>12 meses ideales para el arranque del proyecto.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4206240" y="2057400"/>
            <a:ext cx="3383280" cy="3108960"/>
          </a:xfrm>
          <a:prstGeom prst="roundRect">
            <a:avLst>
              <a:gd fmla="val 2647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4434840" y="233172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Compatibilidad con PostgreSQL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4434840" y="3200400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6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F6F3"/>
                </a:solidFill>
                <a:latin typeface="Calibri"/>
                <a:ea typeface="Calibri"/>
                <a:cs typeface="Calibri"/>
                <a:sym typeface="Calibri"/>
              </a:rPr>
              <a:t>Se integra de forma directa con la base de datos seleccionada.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7863840" y="2057400"/>
            <a:ext cx="3383280" cy="3108960"/>
          </a:xfrm>
          <a:prstGeom prst="roundRect">
            <a:avLst>
              <a:gd fmla="val 2647" name="adj"/>
            </a:avLst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8092440" y="2331720"/>
            <a:ext cx="2926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Compatible con PWA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8092440" y="3200400"/>
            <a:ext cx="2926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F6F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F6F3"/>
                </a:solidFill>
                <a:latin typeface="Calibri"/>
                <a:ea typeface="Calibri"/>
                <a:cs typeface="Calibri"/>
                <a:sym typeface="Calibri"/>
              </a:rPr>
              <a:t>Soporta directamente el tipo de aplicativo a desarrollar.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AgroData CRM — Plataforma Tecnológica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"/>
          <p:cNvSpPr/>
          <p:nvPr/>
        </p:nvSpPr>
        <p:spPr>
          <a:xfrm>
            <a:off x="548640" y="411480"/>
            <a:ext cx="2743200" cy="457200"/>
          </a:xfrm>
          <a:prstGeom prst="roundRect">
            <a:avLst>
              <a:gd fmla="val 50000" name="adj"/>
            </a:avLst>
          </a:prstGeom>
          <a:solidFill>
            <a:srgbClr val="0B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548640" y="411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PARTE 3 — Cristian Camilo Cetina Español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9966960" y="320040"/>
            <a:ext cx="1188720" cy="1188720"/>
          </a:xfrm>
          <a:prstGeom prst="ellipse">
            <a:avLst/>
          </a:prstGeom>
          <a:solidFill>
            <a:srgbClr val="1E2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git.png" id="198" name="Google Shape;19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2253" y="605333"/>
            <a:ext cx="618134" cy="61813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1"/>
          <p:cNvSpPr/>
          <p:nvPr/>
        </p:nvSpPr>
        <p:spPr>
          <a:xfrm>
            <a:off x="548640" y="1051560"/>
            <a:ext cx="8961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Control de versiones: GitHub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1965960"/>
            <a:ext cx="649224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1500"/>
              <a:buFont typeface="Calibri"/>
              <a:buChar char="▪"/>
            </a:pPr>
            <a:r>
              <a:rPr b="0" i="0" lang="en-US" sz="150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El equipo está compuesto por 3 integrantes que deben trabajar de forma organizada.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E2A2E"/>
              </a:buClr>
              <a:buSzPts val="1500"/>
              <a:buFont typeface="Calibri"/>
              <a:buChar char="▪"/>
            </a:pPr>
            <a:r>
              <a:rPr b="0" i="0" lang="en-US" sz="150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Permite dividir el desarrollo por módulos: usuarios, clientes, visitas, pipeline, órdenes, pronóstico y reportes.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E2A2E"/>
              </a:buClr>
              <a:buSzPts val="1500"/>
              <a:buFont typeface="Calibri"/>
              <a:buChar char="▪"/>
            </a:pPr>
            <a:r>
              <a:rPr b="0" i="0" lang="en-US" sz="150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Controla los cambios de código sin generar conflictos entre integrantes.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400"/>
              </a:spcBef>
              <a:spcAft>
                <a:spcPts val="0"/>
              </a:spcAft>
              <a:buClr>
                <a:srgbClr val="1E2A2E"/>
              </a:buClr>
              <a:buSzPts val="1500"/>
              <a:buFont typeface="Calibri"/>
              <a:buChar char="▪"/>
            </a:pPr>
            <a:r>
              <a:rPr b="0" i="0" lang="en-US" sz="1500" u="none" cap="none" strike="noStrike">
                <a:solidFill>
                  <a:srgbClr val="1E2A2E"/>
                </a:solidFill>
                <a:latin typeface="Calibri"/>
                <a:ea typeface="Calibri"/>
                <a:cs typeface="Calibri"/>
                <a:sym typeface="Calibri"/>
              </a:rPr>
              <a:t>A diferencia de otras opciones, GitHub permite alojar el proyecto sin costo.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7315200" y="1965960"/>
            <a:ext cx="3931920" cy="3931920"/>
          </a:xfrm>
          <a:prstGeom prst="roundRect">
            <a:avLst>
              <a:gd fmla="val 2093" name="adj"/>
            </a:avLst>
          </a:prstGeom>
          <a:solidFill>
            <a:srgbClr val="0B2B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7589520" y="219456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50"/>
              <a:buFont typeface="Cambria"/>
              <a:buNone/>
            </a:pPr>
            <a:r>
              <a:rPr b="1" i="0" lang="en-US" sz="1450" u="none" cap="none" strike="noStrike">
                <a:solidFill>
                  <a:srgbClr val="02C39A"/>
                </a:solidFill>
                <a:latin typeface="Cambria"/>
                <a:ea typeface="Cambria"/>
                <a:cs typeface="Cambria"/>
                <a:sym typeface="Cambria"/>
              </a:rPr>
              <a:t>Módulos por integrante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7589520" y="2743200"/>
            <a:ext cx="338328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Usuarios y clientes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Visitas y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Órdenes y pronóstico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▪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AgroData CRM — Plataforma Tecnológica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/>
          <p:nvPr/>
        </p:nvSpPr>
        <p:spPr>
          <a:xfrm>
            <a:off x="9966960" y="320040"/>
            <a:ext cx="1188720" cy="118872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ummary.png" id="212" name="Google Shape;21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2253" y="605333"/>
            <a:ext cx="618134" cy="618134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2"/>
          <p:cNvSpPr/>
          <p:nvPr/>
        </p:nvSpPr>
        <p:spPr>
          <a:xfrm>
            <a:off x="548640" y="457200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A2E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A2E"/>
                </a:solidFill>
                <a:latin typeface="Cambria"/>
                <a:ea typeface="Cambria"/>
                <a:cs typeface="Cambria"/>
                <a:sym typeface="Cambria"/>
              </a:rPr>
              <a:t>Plataforma tecnológica seleccionada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48640" y="1005840"/>
            <a:ext cx="8961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6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B6B6E"/>
                </a:solidFill>
                <a:latin typeface="Calibri"/>
                <a:ea typeface="Calibri"/>
                <a:cs typeface="Calibri"/>
                <a:sym typeface="Calibri"/>
              </a:rPr>
              <a:t>Resumen del stack completo de AgroData CRM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5" name="Google Shape;215;p12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{404C2CC4-E7E6-4DE5-9BDB-1EB8B572C326}</a:tableStyleId>
              </a:tblPr>
              <a:tblGrid>
                <a:gridCol w="3931925"/>
                <a:gridCol w="67665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Elemento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B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Tecnología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2B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 de aplicación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Aplicación Web Progresiva (PWA)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HTML5, CSS3, JavaScript, Bootstrap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Django + Django REST Framework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de datos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 operativo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Windows, Android, iOS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Servidor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Nginx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Servicio cloud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 Lightsail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Control de versiones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A2E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E2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GitHub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8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B33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3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28090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3"/>
          <p:cNvSpPr/>
          <p:nvPr/>
        </p:nvSpPr>
        <p:spPr>
          <a:xfrm>
            <a:off x="8961120" y="3840480"/>
            <a:ext cx="4114800" cy="4114800"/>
          </a:xfrm>
          <a:prstGeom prst="ellipse">
            <a:avLst/>
          </a:prstGeom>
          <a:solidFill>
            <a:srgbClr val="00A896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"/>
          <p:cNvSpPr/>
          <p:nvPr/>
        </p:nvSpPr>
        <p:spPr>
          <a:xfrm>
            <a:off x="822960" y="246888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¡Gracias!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AgroData CRM — Marletti Company S.A.S.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E0"/>
                </a:solidFill>
                <a:latin typeface="Calibri"/>
                <a:ea typeface="Calibri"/>
                <a:cs typeface="Calibri"/>
                <a:sym typeface="Calibri"/>
              </a:rPr>
              <a:t>Juan Manuel Gómez García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822960" y="4480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E0"/>
                </a:solidFill>
                <a:latin typeface="Calibri"/>
                <a:ea typeface="Calibri"/>
                <a:cs typeface="Calibri"/>
                <a:sym typeface="Calibri"/>
              </a:rPr>
              <a:t>Karol Tatiana Delgado Arias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822960" y="4846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E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E0"/>
                </a:solidFill>
                <a:latin typeface="Calibri"/>
                <a:ea typeface="Calibri"/>
                <a:cs typeface="Calibri"/>
                <a:sym typeface="Calibri"/>
              </a:rPr>
              <a:t>Cristian Camilo Cetina Español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2026-08-13T23:19:16Z</dcterms:created>
  <dc:creator>PptxGenJS</dc:creator>
</cp:coreProperties>
</file>