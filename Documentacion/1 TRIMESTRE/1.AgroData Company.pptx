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  <p:sldMasterId id="214748365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y="6858000" cx="12192000"/>
  <p:notesSz cx="6858000" cy="9144000"/>
  <p:embeddedFontLst>
    <p:embeddedFont>
      <p:font typeface="Work Sans Light"/>
      <p:regular r:id="rId24"/>
      <p:bold r:id="rId25"/>
      <p:italic r:id="rId26"/>
      <p:boldItalic r:id="rId27"/>
    </p:embeddedFont>
    <p:embeddedFont>
      <p:font typeface="Work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hmIh9Q3d7c2TYjUuP7EO4NnvO5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font" Target="fonts/WorkSansLight-regular.fntdata"/><Relationship Id="rId23" Type="http://schemas.openxmlformats.org/officeDocument/2006/relationships/slide" Target="slides/slide1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font" Target="fonts/WorkSansLight-italic.fntdata"/><Relationship Id="rId25" Type="http://schemas.openxmlformats.org/officeDocument/2006/relationships/font" Target="fonts/WorkSansLight-bold.fntdata"/><Relationship Id="rId28" Type="http://schemas.openxmlformats.org/officeDocument/2006/relationships/font" Target="fonts/WorkSans-regular.fntdata"/><Relationship Id="rId27" Type="http://schemas.openxmlformats.org/officeDocument/2006/relationships/font" Target="fonts/WorkSansLight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WorkSans-bold.fntdata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font" Target="fonts/WorkSans-boldItalic.fntdata"/><Relationship Id="rId30" Type="http://schemas.openxmlformats.org/officeDocument/2006/relationships/font" Target="fonts/WorkSans-italic.fnt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32" Type="http://customschemas.google.com/relationships/presentationmetadata" Target="meta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d0f8ae85e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cd0f8ae85e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5a93c5ba8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95a93c5ba8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d0f8ae85e_1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cd0f8ae85e_1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d0f8ae85e_1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cd0f8ae85e_1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5a93c5ba8_2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95a93c5ba8_2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5a93c5ba8_2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95a93c5ba8_2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d0f8ae85e_1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cd0f8ae85e_1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8b7c41ae1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a8b7c41ae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46a9b1735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d46a9b1735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e5b8e3ee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ee5b8e3ee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7" name="Google Shape;5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2" name="Google Shape;82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7" name="Google Shape;9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4" name="Google Shape;10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7"/>
          <p:cNvSpPr txBox="1"/>
          <p:nvPr>
            <p:ph idx="1" type="body"/>
          </p:nvPr>
        </p:nvSpPr>
        <p:spPr>
          <a:xfrm rot="5400000">
            <a:off x="3920332" y="-1256507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5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2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0" name="Google Shape;10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1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21" name="Google Shape;2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5350" y="303212"/>
            <a:ext cx="855662" cy="833437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3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13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33" name="Google Shape;33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55350" y="303212"/>
            <a:ext cx="855662" cy="83343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5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15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hyperlink" Target="https://github.com/karo0ol/AGRODATA.git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"/>
          <p:cNvSpPr txBox="1"/>
          <p:nvPr/>
        </p:nvSpPr>
        <p:spPr>
          <a:xfrm>
            <a:off x="892920" y="2252000"/>
            <a:ext cx="9360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5400"/>
              <a:buFont typeface="Work Sans"/>
              <a:buNone/>
            </a:pPr>
            <a:r>
              <a:rPr b="1" lang="en-US" sz="4200">
                <a:solidFill>
                  <a:srgbClr val="404040"/>
                </a:solidFill>
                <a:latin typeface="Comic Sans MS"/>
                <a:ea typeface="Comic Sans MS"/>
                <a:cs typeface="Comic Sans MS"/>
                <a:sym typeface="Comic Sans MS"/>
              </a:rPr>
              <a:t>AgroData — CRM móvil para distribuidores agrícolas</a:t>
            </a:r>
            <a:endParaRPr sz="200">
              <a:solidFill>
                <a:srgbClr val="40404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892925" y="3761025"/>
            <a:ext cx="5727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Juan Nieto, Karol Delgado, Camilo Cetina, Juan Gomez</a:t>
            </a:r>
            <a:endParaRPr sz="19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Análisis y Desarrollo de Software — SENA</a:t>
            </a:r>
            <a:endParaRPr sz="19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26" name="Google Shape;12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2225" y="3097450"/>
            <a:ext cx="2712574" cy="271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d0f8ae85e_1_5"/>
          <p:cNvSpPr txBox="1"/>
          <p:nvPr/>
        </p:nvSpPr>
        <p:spPr>
          <a:xfrm>
            <a:off x="4418494" y="904715"/>
            <a:ext cx="3019200" cy="317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8325" lIns="96675" spcFirstLastPara="1" rIns="96675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cd0f8ae85e_1_5"/>
          <p:cNvSpPr txBox="1"/>
          <p:nvPr/>
        </p:nvSpPr>
        <p:spPr>
          <a:xfrm>
            <a:off x="4385250" y="306925"/>
            <a:ext cx="34215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75" spcFirstLastPara="1" rIns="96675" wrap="square" tIns="483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653"/>
              <a:buFont typeface="Work Sans Light"/>
              <a:buNone/>
            </a:pPr>
            <a:r>
              <a:t/>
            </a:r>
            <a:endParaRPr sz="148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653"/>
              <a:buFont typeface="Work Sans Light"/>
              <a:buNone/>
            </a:pPr>
            <a:r>
              <a:rPr lang="en-US" sz="4800">
                <a:solidFill>
                  <a:srgbClr val="38AA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Contexto</a:t>
            </a:r>
            <a:endParaRPr sz="4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3" name="Google Shape;133;g3cd0f8ae85e_1_5"/>
          <p:cNvSpPr txBox="1"/>
          <p:nvPr/>
        </p:nvSpPr>
        <p:spPr>
          <a:xfrm>
            <a:off x="506550" y="2113625"/>
            <a:ext cx="11178900" cy="52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La Empresa: Marletti Company S.A.S. — importadora y distribuidora de insumos agrícolas (fitosanitarios, fertilizantes, plaguicidas) con sede en Tenjo, Cundinamarca.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•</a:t>
            </a: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Modelo de negocio: B2B (ventas a 6 distribuidores) y B2C (ventas directas a fincas).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•Sistema actual: ISA contable que gestiona inventarios, clientes internos y facturación. AgroData NO reemplaza ISA; lo complementa en el área comercial.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•Proceso de ventas actual: órdenes por correo electrónico, seguimiento manual por cuadernos y calendarios.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•Nuevo flujo con AgroData: los datos contables de ISA se importan periódicamente vía CSV/XLSX, enriqueciendo el perfil del cliente en el CRM.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None/>
            </a:pPr>
            <a:r>
              <a:t/>
            </a:r>
            <a:endParaRPr sz="17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None/>
            </a:pPr>
            <a:r>
              <a:t/>
            </a:r>
            <a:endParaRPr sz="17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5a93c5ba8_1_12"/>
          <p:cNvSpPr txBox="1"/>
          <p:nvPr/>
        </p:nvSpPr>
        <p:spPr>
          <a:xfrm>
            <a:off x="813426" y="1151200"/>
            <a:ext cx="6278100" cy="348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95a93c5ba8_1_12"/>
          <p:cNvSpPr txBox="1"/>
          <p:nvPr/>
        </p:nvSpPr>
        <p:spPr>
          <a:xfrm>
            <a:off x="813425" y="570375"/>
            <a:ext cx="82209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>
                <a:solidFill>
                  <a:srgbClr val="38AA00"/>
                </a:solidFill>
                <a:latin typeface="Comic Sans MS"/>
                <a:ea typeface="Comic Sans MS"/>
                <a:cs typeface="Comic Sans MS"/>
                <a:sym typeface="Comic Sans MS"/>
              </a:rPr>
              <a:t>¿Qué es AgroData?</a:t>
            </a:r>
            <a:endParaRPr sz="4800">
              <a:solidFill>
                <a:srgbClr val="38AA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200">
              <a:solidFill>
                <a:srgbClr val="38AA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t/>
            </a:r>
            <a:endParaRPr sz="5200">
              <a:solidFill>
                <a:srgbClr val="38AA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0" name="Google Shape;140;g395a93c5ba8_1_12"/>
          <p:cNvSpPr txBox="1"/>
          <p:nvPr/>
        </p:nvSpPr>
        <p:spPr>
          <a:xfrm>
            <a:off x="353850" y="1795500"/>
            <a:ext cx="11294100" cy="5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AgroData es una aplicación web progresiva (PWA) que centraliza la gestión de clientes, visitas comerciales y compromisos de los distribuidores de Marletti Company S.A.S.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· Funciona offline en campo — diseñado para zonas de baja o nula conectividad. Los módulos de clientes, visitas y órdenes operan sin internet; la sincronización es automática al recuperar señal.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· Funciona en móvil y computador, instalable como app desde el navegador (PWA).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· Se integra con ISA contable mediante importación de archivos, trayendo datos de clientes sin requerir modificaciones al sistema existente. ISA gestiona lo contable; AgroData gestiona lo comercial.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· Diferenciador clave: combina CRM comercial con perfil agronómico del cliente (cultivos, hectáreas, épocas de siembra) para convertir visitas reactivas en visitas consultivas.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None/>
            </a:pPr>
            <a:r>
              <a:t/>
            </a:r>
            <a:endParaRPr sz="19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 txBox="1"/>
          <p:nvPr/>
        </p:nvSpPr>
        <p:spPr>
          <a:xfrm>
            <a:off x="1026616" y="1171875"/>
            <a:ext cx="5129700" cy="350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583600" y="613150"/>
            <a:ext cx="9989100" cy="11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t/>
            </a:r>
            <a:endParaRPr sz="11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lang="en-US" sz="4800">
                <a:solidFill>
                  <a:srgbClr val="38AA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Problemática Identificada</a:t>
            </a:r>
            <a:endParaRPr sz="4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437875" y="1946625"/>
            <a:ext cx="11555700" cy="52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La empresa cuenta con 6 distribuidores, cada uno con aproximadamente 100 clientes = 600 relaciones comerciales activas sin sistema de seguimiento, La gestión se desarrolla  completamente manual: cuadernos, blocs y calendarios físicos.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Consecuencias directas:</a:t>
            </a:r>
            <a:endParaRPr b="1" sz="1800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 Light"/>
              <a:buChar char="●"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Pérdida de datos de clientes y acuerdos al extraviar cuadernos.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 Light"/>
              <a:buChar char="●"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Sin recordatorios: visitas y compromisos olvidados.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 Light"/>
              <a:buChar char="●"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Imposibilidad de ver el historial de un cliente rápidamente.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 Light"/>
              <a:buChar char="●"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Sin visibilidad de cartera vencida al momento de tomar nuevos pedidos.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 Light"/>
              <a:buChar char="●"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Impacto: baja productividad comercial, oportunidades de venta perdidas y riesgo financiero por pedidos a clientes morosos.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None/>
            </a:pPr>
            <a:r>
              <a:t/>
            </a:r>
            <a:endParaRPr sz="2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d0f8ae85e_1_23"/>
          <p:cNvSpPr txBox="1"/>
          <p:nvPr/>
        </p:nvSpPr>
        <p:spPr>
          <a:xfrm>
            <a:off x="3410150" y="1457125"/>
            <a:ext cx="5253600" cy="332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cd0f8ae85e_1_23"/>
          <p:cNvSpPr txBox="1"/>
          <p:nvPr/>
        </p:nvSpPr>
        <p:spPr>
          <a:xfrm>
            <a:off x="3284900" y="933175"/>
            <a:ext cx="5504100" cy="11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t/>
            </a:r>
            <a:endParaRPr sz="11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lang="en-US" sz="4800">
                <a:solidFill>
                  <a:srgbClr val="38AA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Pregunta problema</a:t>
            </a:r>
            <a:endParaRPr sz="4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4" name="Google Shape;154;g3cd0f8ae85e_1_23"/>
          <p:cNvSpPr txBox="1"/>
          <p:nvPr/>
        </p:nvSpPr>
        <p:spPr>
          <a:xfrm>
            <a:off x="1238850" y="2672000"/>
            <a:ext cx="97143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¿Cómo digitalizar la gestión de clientes, visitas comerciales y seguimiento de compromisos de los distribuidores de Marletti Company S.A.S., integrando la información contable existente en ISA para mejorar la toma de decisiones y reducir el riesgo de cartera vencida?</a:t>
            </a:r>
            <a:endParaRPr sz="24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None/>
            </a:pPr>
            <a:r>
              <a:t/>
            </a:r>
            <a:endParaRPr sz="2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d0f8ae85e_1_14"/>
          <p:cNvSpPr txBox="1"/>
          <p:nvPr/>
        </p:nvSpPr>
        <p:spPr>
          <a:xfrm>
            <a:off x="776331" y="1077821"/>
            <a:ext cx="2715300" cy="319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2200" lIns="84425" spcFirstLastPara="1" rIns="84425" wrap="square" tIns="42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cd0f8ae85e_1_14"/>
          <p:cNvSpPr txBox="1"/>
          <p:nvPr/>
        </p:nvSpPr>
        <p:spPr>
          <a:xfrm>
            <a:off x="776325" y="467625"/>
            <a:ext cx="3329700" cy="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00" lIns="84425" spcFirstLastPara="1" rIns="84425" wrap="square" tIns="422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064"/>
              <a:buFont typeface="Work Sans Light"/>
              <a:buNone/>
            </a:pPr>
            <a:r>
              <a:t/>
            </a:r>
            <a:endParaRPr sz="1293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064"/>
              <a:buFont typeface="Work Sans Light"/>
              <a:buNone/>
            </a:pPr>
            <a:r>
              <a:rPr lang="en-US" sz="4803">
                <a:solidFill>
                  <a:srgbClr val="38AA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Mision</a:t>
            </a:r>
            <a:endParaRPr sz="2032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1" name="Google Shape;161;g3cd0f8ae85e_1_14"/>
          <p:cNvSpPr txBox="1"/>
          <p:nvPr/>
        </p:nvSpPr>
        <p:spPr>
          <a:xfrm>
            <a:off x="329475" y="1574750"/>
            <a:ext cx="5270100" cy="18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2200" lIns="84425" spcFirstLastPara="1" rIns="84425" wrap="square" tIns="422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8"/>
              <a:buFont typeface="Work Sans Light"/>
              <a:buNone/>
            </a:pPr>
            <a:r>
              <a:rPr lang="en-US" sz="194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Misión: Centralizar y organizar la información comercial de los distribuidores agrícolas de Marletti, integrando datos contables de ISA para apoyar decisiones con información precisa, actualizada y disponible en campo.</a:t>
            </a:r>
            <a:endParaRPr sz="194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62" name="Google Shape;162;g3cd0f8ae85e_1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0125" y="467625"/>
            <a:ext cx="4701625" cy="28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cd0f8ae85e_1_14"/>
          <p:cNvSpPr txBox="1"/>
          <p:nvPr/>
        </p:nvSpPr>
        <p:spPr>
          <a:xfrm>
            <a:off x="6645459" y="4238642"/>
            <a:ext cx="3144900" cy="315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1600" lIns="83250" spcFirstLastPara="1" rIns="83250" wrap="square" tIns="41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cd0f8ae85e_1_14"/>
          <p:cNvSpPr txBox="1"/>
          <p:nvPr/>
        </p:nvSpPr>
        <p:spPr>
          <a:xfrm>
            <a:off x="6805038" y="3875425"/>
            <a:ext cx="282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600" lIns="83250" spcFirstLastPara="1" rIns="83250" wrap="square" tIns="416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007"/>
              <a:buFont typeface="Work Sans Light"/>
              <a:buNone/>
            </a:pPr>
            <a:r>
              <a:rPr lang="en-US" sz="4736">
                <a:solidFill>
                  <a:srgbClr val="38AA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Vision</a:t>
            </a:r>
            <a:endParaRPr sz="2004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5" name="Google Shape;165;g3cd0f8ae85e_1_14"/>
          <p:cNvSpPr txBox="1"/>
          <p:nvPr/>
        </p:nvSpPr>
        <p:spPr>
          <a:xfrm>
            <a:off x="5845975" y="4800000"/>
            <a:ext cx="56997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600" lIns="83250" spcFirstLastPara="1" rIns="83250" wrap="square" tIns="416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4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Ser la herramienta de referencia para la digitalización comercial del sector agro en la región, permitiendo a distribuidores fidelizar clientes, reducir cartera vencida y crecer de forma sostenible mediante datos.</a:t>
            </a:r>
            <a:endParaRPr sz="2004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4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7"/>
              <a:buFont typeface="Work Sans Light"/>
              <a:buNone/>
            </a:pPr>
            <a:r>
              <a:t/>
            </a:r>
            <a:endParaRPr sz="2004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66" name="Google Shape;166;g3cd0f8ae85e_1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6325" y="3628375"/>
            <a:ext cx="3894806" cy="314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5a93c5ba8_2_10"/>
          <p:cNvSpPr txBox="1"/>
          <p:nvPr/>
        </p:nvSpPr>
        <p:spPr>
          <a:xfrm>
            <a:off x="1012926" y="1331200"/>
            <a:ext cx="5239800" cy="390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95a93c5ba8_2_10"/>
          <p:cNvSpPr txBox="1"/>
          <p:nvPr/>
        </p:nvSpPr>
        <p:spPr>
          <a:xfrm>
            <a:off x="844500" y="946600"/>
            <a:ext cx="66549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lang="en-US" sz="4800">
                <a:solidFill>
                  <a:srgbClr val="38AA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Objetivo </a:t>
            </a:r>
            <a:r>
              <a:rPr lang="en-US" sz="4800">
                <a:solidFill>
                  <a:srgbClr val="38AA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General</a:t>
            </a:r>
            <a:r>
              <a:rPr lang="en-US" sz="4800">
                <a:solidFill>
                  <a:srgbClr val="38AA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4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3" name="Google Shape;173;g395a93c5ba8_2_10"/>
          <p:cNvSpPr txBox="1"/>
          <p:nvPr/>
        </p:nvSpPr>
        <p:spPr>
          <a:xfrm>
            <a:off x="609275" y="2648300"/>
            <a:ext cx="6047100" cy="28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Desarrollar una aplicación web progresiva (PWA) de CRM para los distribuidores de Marletti Company S.A.S. que permita gestionar clientes, programar y registrar visitas, controlar compromisos, y visualizar información de cartera importada desde ISA contable, disponible en dispositivos móviles y computadores con soporte offline.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74" name="Google Shape;174;g395a93c5ba8_2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6375" y="1421400"/>
            <a:ext cx="5131625" cy="46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5a93c5ba8_2_20"/>
          <p:cNvSpPr txBox="1"/>
          <p:nvPr/>
        </p:nvSpPr>
        <p:spPr>
          <a:xfrm>
            <a:off x="3136175" y="871900"/>
            <a:ext cx="5863500" cy="351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95a93c5ba8_2_20"/>
          <p:cNvSpPr txBox="1"/>
          <p:nvPr/>
        </p:nvSpPr>
        <p:spPr>
          <a:xfrm>
            <a:off x="3099000" y="467950"/>
            <a:ext cx="59940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lang="en-US" sz="4400">
                <a:solidFill>
                  <a:srgbClr val="38AA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Objetivos Especificos 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1" name="Google Shape;181;g395a93c5ba8_2_20"/>
          <p:cNvSpPr txBox="1"/>
          <p:nvPr/>
        </p:nvSpPr>
        <p:spPr>
          <a:xfrm>
            <a:off x="757775" y="1747800"/>
            <a:ext cx="106203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Work Sans Light"/>
              <a:buAutoNum type="arabicPeriod"/>
            </a:pPr>
            <a:r>
              <a:rPr lang="en-US" sz="19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Administrar perfiles de clientes B2B y B2C con información de contacto, ubicación, tipo de cultivo, hectáreas, época agrícola y productos asociados.</a:t>
            </a:r>
            <a:endParaRPr sz="19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Work Sans Light"/>
              <a:buAutoNum type="arabicPeriod"/>
            </a:pPr>
            <a:r>
              <a:rPr lang="en-US" sz="19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Estructurar una agenda de visitas con programación, recordatorios, registro de resultados y captura rápida desde campo (texto o nota de voz).</a:t>
            </a:r>
            <a:endParaRPr sz="19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Work Sans Light"/>
              <a:buAutoNum type="arabicPeriod"/>
            </a:pPr>
            <a:r>
              <a:rPr lang="en-US" sz="19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Habilitar el seguimiento comercial mediante el registro de compromisos, etapas de negociación e historial de interacciones por cliente.</a:t>
            </a:r>
            <a:endParaRPr sz="19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Work Sans Light"/>
              <a:buAutoNum type="arabicPeriod"/>
            </a:pPr>
            <a:r>
              <a:rPr lang="en-US" sz="19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Calcular ciclos de recompra adaptativos por cliente — con manejo explícito de historial reducido (2–3 compras) — priorizar la cartera según urgencia y emitir alertas cruzadas con el calendario agrícola.</a:t>
            </a:r>
            <a:endParaRPr sz="19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Work Sans Light"/>
              <a:buAutoNum type="arabicPeriod"/>
            </a:pPr>
            <a:r>
              <a:rPr lang="en-US" sz="19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Soportar la importación de bases de clientes desde archivos CSV/XLSX con validación de datos, registro de errores y definición explícita de fuente de verdad respecto a ISA.</a:t>
            </a:r>
            <a:endParaRPr sz="19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Work Sans Light"/>
              <a:buAutoNum type="arabicPeriod"/>
            </a:pPr>
            <a:r>
              <a:rPr lang="en-US" sz="19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Proveer a la gerencia reportes de actividad, desempeño comercial y estado de cartera, con opciones de exportación a Excel/CSV.</a:t>
            </a:r>
            <a:endParaRPr sz="19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Work Sans Light"/>
              <a:buAutoNum type="arabicPeriod"/>
            </a:pPr>
            <a:r>
              <a:rPr lang="en-US" sz="19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Garantizar operación offline completa en campo con sincronización automática al recuperar conexión y resolución de conflictos definida.</a:t>
            </a:r>
            <a:endParaRPr sz="19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d0f8ae85e_1_34"/>
          <p:cNvSpPr txBox="1"/>
          <p:nvPr/>
        </p:nvSpPr>
        <p:spPr>
          <a:xfrm>
            <a:off x="4546500" y="687001"/>
            <a:ext cx="2827200" cy="360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38625" lIns="77250" spcFirstLastPara="1" rIns="77250" wrap="square" tIns="38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2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cd0f8ae85e_1_34"/>
          <p:cNvSpPr txBox="1"/>
          <p:nvPr/>
        </p:nvSpPr>
        <p:spPr>
          <a:xfrm>
            <a:off x="4682400" y="304900"/>
            <a:ext cx="25554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625" lIns="77250" spcFirstLastPara="1" rIns="77250" wrap="square" tIns="386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718"/>
              <a:buFont typeface="Work Sans Light"/>
              <a:buNone/>
            </a:pPr>
            <a:r>
              <a:rPr lang="en-US" sz="4800">
                <a:solidFill>
                  <a:srgbClr val="38AA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Modulos</a:t>
            </a:r>
            <a:endParaRPr sz="4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8" name="Google Shape;188;g3cd0f8ae85e_1_34"/>
          <p:cNvSpPr txBox="1"/>
          <p:nvPr/>
        </p:nvSpPr>
        <p:spPr>
          <a:xfrm>
            <a:off x="295400" y="1285000"/>
            <a:ext cx="5618100" cy="6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M1 · Administración de usuarios</a:t>
            </a:r>
            <a:endParaRPr b="1" sz="13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ork Sans Light"/>
              <a:buChar char="●"/>
            </a:pPr>
            <a:r>
              <a:rPr lang="en-US" sz="13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Crear, editar y desactivar cuentas de usuarios</a:t>
            </a:r>
            <a:endParaRPr sz="13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ork Sans Light"/>
              <a:buChar char="●"/>
            </a:pPr>
            <a:r>
              <a:rPr lang="en-US" sz="13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Asignar rol y zona geográfica a cada distribuidor</a:t>
            </a:r>
            <a:endParaRPr sz="13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ork Sans Light"/>
              <a:buChar char="●"/>
            </a:pPr>
            <a:r>
              <a:rPr lang="en-US" sz="13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Ver último acceso y actividad reciente de cada usuario</a:t>
            </a:r>
            <a:endParaRPr sz="13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ork Sans Light"/>
              <a:buChar char="●"/>
            </a:pPr>
            <a:r>
              <a:rPr lang="en-US" sz="13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Restablecer contraseñas</a:t>
            </a:r>
            <a:endParaRPr sz="13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ork Sans Light"/>
              <a:buChar char="●"/>
            </a:pPr>
            <a:r>
              <a:rPr lang="en-US" sz="13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Asociar distribuidores a clientes específicos</a:t>
            </a:r>
            <a:endParaRPr sz="13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M2 · Gestión de clientes</a:t>
            </a:r>
            <a:endParaRPr b="1" sz="13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ork Sans Light"/>
              <a:buChar char="●"/>
            </a:pPr>
            <a:r>
              <a:rPr lang="en-US" sz="13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Crear y editar ficha completa del cliente</a:t>
            </a:r>
            <a:endParaRPr sz="13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ork Sans Light"/>
              <a:buChar char="●"/>
            </a:pPr>
            <a:r>
              <a:rPr lang="en-US" sz="13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Clasificar cliente como B2B o B2C</a:t>
            </a:r>
            <a:endParaRPr sz="13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ork Sans Light"/>
              <a:buChar char="●"/>
            </a:pPr>
            <a:r>
              <a:rPr lang="en-US" sz="13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Registrar productos que consume habitualmente</a:t>
            </a:r>
            <a:endParaRPr sz="13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ork Sans Light"/>
              <a:buChar char="●"/>
            </a:pPr>
            <a:r>
              <a:rPr lang="en-US" sz="13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Consultar historial completo de compras y visitas</a:t>
            </a:r>
            <a:endParaRPr sz="13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ork Sans Light"/>
              <a:buChar char="●"/>
            </a:pPr>
            <a:r>
              <a:rPr lang="en-US" sz="13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Adjuntar documentos relevantes del cliente</a:t>
            </a:r>
            <a:endParaRPr sz="13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ork Sans Light"/>
              <a:buChar char="●"/>
            </a:pPr>
            <a:r>
              <a:rPr lang="en-US" sz="13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Marcar clientes como activos, inactivos o potenciales</a:t>
            </a:r>
            <a:endParaRPr sz="13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ork Sans Light"/>
              <a:buChar char="●"/>
            </a:pPr>
            <a:r>
              <a:rPr lang="en-US" sz="13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Registrar información del cultivo: tipo de cultivo, hectáreas, época de siembra y cosecha</a:t>
            </a:r>
            <a:endParaRPr sz="13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ork Sans Light"/>
              <a:buChar char="●"/>
            </a:pPr>
            <a:r>
              <a:rPr lang="en-US" sz="13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Cruzar datos del cultivo con el pronóstico de recompra para recomendaciones proactivas</a:t>
            </a:r>
            <a:endParaRPr sz="13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M3 · Planificación y registro de visitas</a:t>
            </a:r>
            <a:endParaRPr b="1" sz="13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ork Sans Light"/>
              <a:buChar char="●"/>
            </a:pPr>
            <a:r>
              <a:rPr lang="en-US" sz="13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Programar visitas con fecha, hora y objetivo</a:t>
            </a:r>
            <a:endParaRPr sz="13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ork Sans Light"/>
              <a:buChar char="●"/>
            </a:pPr>
            <a:r>
              <a:rPr lang="en-US" sz="13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Registrar el resultado de cada visita realizada</a:t>
            </a:r>
            <a:endParaRPr sz="13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ork Sans Light"/>
              <a:buChar char="●"/>
            </a:pPr>
            <a:r>
              <a:rPr lang="en-US" sz="13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Adjuntar notas, fotos o documentos de la visita</a:t>
            </a:r>
            <a:endParaRPr sz="13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ork Sans Light"/>
              <a:buChar char="●"/>
            </a:pPr>
            <a:r>
              <a:rPr lang="en-US" sz="13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Consultar historial cronológico de visitas por cliente</a:t>
            </a:r>
            <a:endParaRPr sz="13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ork Sans Light"/>
              <a:buChar char="●"/>
            </a:pPr>
            <a:r>
              <a:rPr lang="en-US" sz="13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Generar alertas automáticas por clientes sin visita reciente</a:t>
            </a:r>
            <a:endParaRPr sz="13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ork Sans Light"/>
              <a:buChar char="●"/>
            </a:pPr>
            <a:r>
              <a:rPr lang="en-US" sz="13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Ver agenda semanal de visitas programadas</a:t>
            </a:r>
            <a:endParaRPr sz="13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Work Sans Light"/>
              <a:buChar char="●"/>
            </a:pPr>
            <a:r>
              <a:rPr lang="en-US" sz="13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Registrar resultado de visita por texto libre o nota de voz desde campo (máx. 30 segundos), con transcripción automática opcional</a:t>
            </a:r>
            <a:endParaRPr sz="13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89" name="Google Shape;189;g3cd0f8ae85e_1_34"/>
          <p:cNvSpPr txBox="1"/>
          <p:nvPr/>
        </p:nvSpPr>
        <p:spPr>
          <a:xfrm>
            <a:off x="6071650" y="1184950"/>
            <a:ext cx="5728200" cy="6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M4 · Pipeline de ventas</a:t>
            </a:r>
            <a:endParaRPr b="1"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Light"/>
              <a:buChar char="●"/>
            </a:pPr>
            <a:r>
              <a:rPr lang="en-US" sz="12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Crear oportunidades de venta vinculadas a un cliente</a:t>
            </a:r>
            <a:endParaRPr sz="1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Light"/>
              <a:buChar char="●"/>
            </a:pPr>
            <a:r>
              <a:rPr lang="en-US" sz="12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Avanzar oportunidades por etapas: prospecto → contacto → negociación → cierre</a:t>
            </a:r>
            <a:endParaRPr sz="1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Light"/>
              <a:buChar char="●"/>
            </a:pPr>
            <a:r>
              <a:rPr lang="en-US" sz="12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Registrar compromisos pactados en cada etapa (precio, calidad, tiempos)</a:t>
            </a:r>
            <a:endParaRPr sz="1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Light"/>
              <a:buChar char="●"/>
            </a:pPr>
            <a:r>
              <a:rPr lang="en-US" sz="12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Marcar oportunidades como ganadas, perdidas o en pausa</a:t>
            </a:r>
            <a:endParaRPr sz="1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Light"/>
              <a:buChar char="●"/>
            </a:pPr>
            <a:r>
              <a:rPr lang="en-US" sz="12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Consultar todas las oportunidades abiertas en un solo panel visual</a:t>
            </a:r>
            <a:endParaRPr sz="1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Light"/>
              <a:buChar char="●"/>
            </a:pPr>
            <a:r>
              <a:rPr lang="en-US" sz="12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Registrar motivo de pérdida cuando una venta no se cierra</a:t>
            </a:r>
            <a:endParaRPr b="1"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M5 · Gestión de órdenes de compra</a:t>
            </a:r>
            <a:endParaRPr b="1"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Light"/>
              <a:buChar char="●"/>
            </a:pPr>
            <a:r>
              <a:rPr lang="en-US" sz="12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Registrar nueva orden vinculada a una oportunidad cerrada</a:t>
            </a:r>
            <a:endParaRPr sz="1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Light"/>
              <a:buChar char="●"/>
            </a:pPr>
            <a:r>
              <a:rPr lang="en-US" sz="12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Especificar productos, cantidades, precios y condiciones acordadas</a:t>
            </a:r>
            <a:endParaRPr sz="1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Light"/>
              <a:buChar char="●"/>
            </a:pPr>
            <a:r>
              <a:rPr lang="en-US" sz="12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Registrar fecha pactada de entrega</a:t>
            </a:r>
            <a:endParaRPr sz="1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Light"/>
              <a:buChar char="●"/>
            </a:pPr>
            <a:r>
              <a:rPr lang="en-US" sz="12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Actualizar el estado de la orden: pendiente → en proceso → entregada</a:t>
            </a:r>
            <a:endParaRPr sz="1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Light"/>
              <a:buChar char="●"/>
            </a:pPr>
            <a:r>
              <a:rPr lang="en-US" sz="12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Registrar novedades o incumplimientos en la entrega</a:t>
            </a:r>
            <a:endParaRPr sz="1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Light"/>
              <a:buChar char="●"/>
            </a:pPr>
            <a:r>
              <a:rPr lang="en-US" sz="12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Consultar historial de órdenes por cliente o por período</a:t>
            </a:r>
            <a:endParaRPr sz="1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Light"/>
              <a:buChar char="●"/>
            </a:pPr>
            <a:r>
              <a:rPr lang="en-US" sz="12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Consultar historial de órdenes por cliente o por período</a:t>
            </a:r>
            <a:endParaRPr sz="1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Light"/>
              <a:buChar char="●"/>
            </a:pPr>
            <a:r>
              <a:rPr lang="en-US" sz="12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Definir regla de precedencia con ISA. Cualquier orden cerrada en el CRM debe marcarse como "pendiente de sincronización ISA" hasta confirmación.</a:t>
            </a:r>
            <a:endParaRPr sz="1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M6 · Pronóstico de recompra</a:t>
            </a:r>
            <a:endParaRPr b="1"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Light"/>
              <a:buChar char="●"/>
            </a:pPr>
            <a:r>
              <a:rPr lang="en-US" sz="12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Calcular automáticamente el ciclo promedio de recompra de cada cliente basado en su historial</a:t>
            </a:r>
            <a:endParaRPr sz="1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Light"/>
              <a:buChar char="●"/>
            </a:pPr>
            <a:r>
              <a:rPr lang="en-US" sz="12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Generar una lista priorizada de clientes según urgencia de visita</a:t>
            </a:r>
            <a:endParaRPr sz="1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Light"/>
              <a:buChar char="●"/>
            </a:pPr>
            <a:r>
              <a:rPr lang="en-US" sz="12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Mostrar cuántos días faltan o han pasado desde el ciclo esperado de cada cliente</a:t>
            </a:r>
            <a:endParaRPr sz="1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Light"/>
              <a:buChar char="●"/>
            </a:pPr>
            <a:r>
              <a:rPr lang="en-US" sz="12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Permitir al distribuidor ajustar manualmente el ciclo estimado de un cliente</a:t>
            </a:r>
            <a:endParaRPr sz="1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Light"/>
              <a:buChar char="●"/>
            </a:pPr>
            <a:r>
              <a:rPr lang="en-US" sz="12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Emitir alertas cuando un cliente supera su ciclo sin nueva compra</a:t>
            </a:r>
            <a:endParaRPr sz="1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Light"/>
              <a:buChar char="●"/>
            </a:pPr>
            <a:r>
              <a:rPr lang="en-US" sz="12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Identificar clientes de alto valor que están en riesgo de inactividad</a:t>
            </a:r>
            <a:endParaRPr sz="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8b7c41ae1_0_1"/>
          <p:cNvSpPr txBox="1"/>
          <p:nvPr/>
        </p:nvSpPr>
        <p:spPr>
          <a:xfrm>
            <a:off x="4546500" y="687001"/>
            <a:ext cx="2827200" cy="360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38625" lIns="77250" spcFirstLastPara="1" rIns="77250" wrap="square" tIns="38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2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a8b7c41ae1_0_1"/>
          <p:cNvSpPr txBox="1"/>
          <p:nvPr/>
        </p:nvSpPr>
        <p:spPr>
          <a:xfrm>
            <a:off x="4682400" y="304900"/>
            <a:ext cx="25554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625" lIns="77250" spcFirstLastPara="1" rIns="77250" wrap="square" tIns="386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718"/>
              <a:buFont typeface="Work Sans Light"/>
              <a:buNone/>
            </a:pPr>
            <a:r>
              <a:rPr lang="en-US" sz="4800">
                <a:solidFill>
                  <a:srgbClr val="38AA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Modulos</a:t>
            </a:r>
            <a:endParaRPr sz="4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6" name="Google Shape;196;g3a8b7c41ae1_0_1"/>
          <p:cNvSpPr txBox="1"/>
          <p:nvPr/>
        </p:nvSpPr>
        <p:spPr>
          <a:xfrm>
            <a:off x="943200" y="1629250"/>
            <a:ext cx="8603100" cy="60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M7 · Reportes y panel gerencial</a:t>
            </a:r>
            <a:endParaRPr b="1"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●"/>
            </a:pPr>
            <a:r>
              <a:rPr lang="en-US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Ver dashboard con métricas globales: clientes activos, órdenes del período, visitas realizadas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●"/>
            </a:pPr>
            <a:r>
              <a:rPr lang="en-US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Consultar rendimiento individual de cada distribuidor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●"/>
            </a:pPr>
            <a:r>
              <a:rPr lang="en-US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Comparar distribuidores por número de visitas, oportunidades y ventas cerradas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●"/>
            </a:pPr>
            <a:r>
              <a:rPr lang="en-US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Ver clientes sin atención reciente a nivel global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●"/>
            </a:pPr>
            <a:r>
              <a:rPr lang="en-US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Generar reportes por período, por distribuidor o por zona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●"/>
            </a:pPr>
            <a:r>
              <a:rPr lang="en-US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Exportar cualquier reporte a Excel o CSV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●"/>
            </a:pPr>
            <a:r>
              <a:rPr lang="en-US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Importar base de clientes desde ISA vía archivo Excel o CSV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M8 · Infraestructura offline (PWA)</a:t>
            </a:r>
            <a:endParaRPr b="1"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●"/>
            </a:pPr>
            <a:r>
              <a:rPr lang="en-US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La app debe funcionar completamente sin conexión para: registrar visitas, crear oportunidades, adjuntar notas y fotos, consultar fichas de clientes y agenda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●"/>
            </a:pPr>
            <a:r>
              <a:rPr lang="en-US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Datos que se sincronizan offline: fichas de clientes, historial de visitas, pipeline de oportunidades, órdenes pendientes, agenda semanal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●"/>
            </a:pPr>
            <a:r>
              <a:rPr lang="en-US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Resolución de conflictos: last-write-wins con marca de tiempo para campos independientes; para campos compartidos (ej. estado de orden), se notifica al usuario el conflicto y se pide resolución manual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●"/>
            </a:pPr>
            <a:r>
              <a:rPr lang="en-US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Indicador visible de estado de conexión y cola de sincronización pendiente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 txBox="1"/>
          <p:nvPr/>
        </p:nvSpPr>
        <p:spPr>
          <a:xfrm>
            <a:off x="2076250" y="1158225"/>
            <a:ext cx="7133400" cy="399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2541400" y="728325"/>
            <a:ext cx="6203100" cy="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lang="en-US" sz="4800">
                <a:solidFill>
                  <a:srgbClr val="38AA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Alcance del proyecto</a:t>
            </a:r>
            <a:endParaRPr sz="4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803850" y="1941225"/>
            <a:ext cx="10584300" cy="4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INCLUYE:</a:t>
            </a:r>
            <a:endParaRPr b="1" sz="2400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◦	Gestión de hasta 600 clientes (6 distribuidores × ~100 c/u).</a:t>
            </a:r>
            <a:endParaRPr sz="21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◦	Registro de visitas, notas y compromisos desde dispositivos móviles.</a:t>
            </a:r>
            <a:endParaRPr sz="21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◦	Importación periódica de datos contables desde ISA (CSV/XLSX).</a:t>
            </a:r>
            <a:endParaRPr sz="21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◦	Dashboard gerencial web con métricas de ventas y cartera.</a:t>
            </a:r>
            <a:endParaRPr sz="21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◦	Operación offline con sincronización automática.</a:t>
            </a:r>
            <a:endParaRPr sz="21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None/>
            </a:pPr>
            <a:r>
              <a:t/>
            </a:r>
            <a:endParaRPr sz="21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None/>
            </a:pPr>
            <a:r>
              <a:t/>
            </a:r>
            <a:endParaRPr b="1" sz="2400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NO INCLUYE:</a:t>
            </a:r>
            <a:endParaRPr b="1" sz="2400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◦	Integración en tiempo real con ISA (no hay API disponible).</a:t>
            </a:r>
            <a:endParaRPr sz="21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◦	Gestión de inventarios ni facturación (responsabilidad de ISA).</a:t>
            </a:r>
            <a:endParaRPr sz="21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◦	Módulo de pagos o cobros directos.</a:t>
            </a:r>
            <a:endParaRPr sz="21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None/>
            </a:pPr>
            <a:r>
              <a:t/>
            </a:r>
            <a:endParaRPr sz="21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46a9b1735_0_19"/>
          <p:cNvSpPr txBox="1"/>
          <p:nvPr/>
        </p:nvSpPr>
        <p:spPr>
          <a:xfrm>
            <a:off x="4062975" y="1013650"/>
            <a:ext cx="3870900" cy="441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53625" lIns="107225" spcFirstLastPara="1" rIns="107225" wrap="square" tIns="53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1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d46a9b1735_0_19"/>
          <p:cNvSpPr txBox="1"/>
          <p:nvPr/>
        </p:nvSpPr>
        <p:spPr>
          <a:xfrm>
            <a:off x="4131450" y="641425"/>
            <a:ext cx="39291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3625" lIns="107225" spcFirstLastPara="1" rIns="107225" wrap="square" tIns="536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5161"/>
              <a:buFont typeface="Work Sans Light"/>
              <a:buNone/>
            </a:pPr>
            <a:r>
              <a:rPr lang="en-US" sz="5161">
                <a:solidFill>
                  <a:srgbClr val="38AA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Tecnologia</a:t>
            </a:r>
            <a:endParaRPr sz="1642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0" name="Google Shape;210;g3d46a9b1735_0_19"/>
          <p:cNvSpPr txBox="1"/>
          <p:nvPr/>
        </p:nvSpPr>
        <p:spPr>
          <a:xfrm>
            <a:off x="1481800" y="1914925"/>
            <a:ext cx="91053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AGRODATA: Tipo de aplicación: PWA — funciona como app nativa instalable desde el navegador.</a:t>
            </a: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</a:t>
            </a:r>
            <a:r>
              <a:rPr lang="en-US" sz="16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  </a:t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211" name="Google Shape;211;g3d46a9b1735_0_19"/>
          <p:cNvSpPr txBox="1"/>
          <p:nvPr/>
        </p:nvSpPr>
        <p:spPr>
          <a:xfrm>
            <a:off x="542775" y="3237475"/>
            <a:ext cx="35202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    </a:t>
            </a:r>
            <a:r>
              <a:rPr b="1" lang="en-US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     </a:t>
            </a:r>
            <a:r>
              <a:rPr b="1" lang="en-US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    💻 WEB</a:t>
            </a:r>
            <a:endParaRPr b="1"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 Light"/>
              <a:buChar char="-"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Chrome, Edge y Firefox — dashboard con reportes completos y gestión de importaciones ISA.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212" name="Google Shape;212;g3d46a9b1735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2525" y="3377125"/>
            <a:ext cx="2485000" cy="155705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d46a9b1735_0_19"/>
          <p:cNvSpPr txBox="1"/>
          <p:nvPr/>
        </p:nvSpPr>
        <p:spPr>
          <a:xfrm>
            <a:off x="7847075" y="3333025"/>
            <a:ext cx="3083400" cy="23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 📱 MÓVIL  </a:t>
            </a:r>
            <a:endParaRPr b="1"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                    </a:t>
            </a:r>
            <a:endParaRPr b="1"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Char char="-"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instalable en Android e iOS, icono en pantalla de inicio, funciona sin internet, sincroniza al conectar.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 txBox="1"/>
          <p:nvPr/>
        </p:nvSpPr>
        <p:spPr>
          <a:xfrm>
            <a:off x="3625350" y="1093225"/>
            <a:ext cx="4467900" cy="435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3862050" y="794875"/>
            <a:ext cx="4231200" cy="10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lang="en-US" sz="4800">
                <a:solidFill>
                  <a:srgbClr val="38AA00"/>
                </a:solidFill>
                <a:latin typeface="Comic Sans MS"/>
                <a:ea typeface="Comic Sans MS"/>
                <a:cs typeface="Comic Sans MS"/>
                <a:sym typeface="Comic Sans MS"/>
              </a:rPr>
              <a:t>Justificación</a:t>
            </a:r>
            <a:endParaRPr sz="4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441450" y="1995875"/>
            <a:ext cx="11309100" cy="4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La gestión manual de 600 clientes genera pérdida de datos, olvido de compromisos y riesgo de cartera vencida.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AgroData resuelve esto con:</a:t>
            </a:r>
            <a:endParaRPr b="1" sz="2400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 Light"/>
              <a:buChar char="●"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Centralización de datos de clientes y visitas en un sistema accesible desde campo.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 Light"/>
              <a:buChar char="●"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Integración con ISA mediante importación de archivos, sin reemplazar el sistema contable.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 Light"/>
              <a:buChar char="●"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Alertas de cartera vencida en el momento de crear nuevos pedidos, reduciendo riesgo financiero.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 Light"/>
              <a:buChar char="●"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Reportes de desempeño para gerencia, facilitando toma de decisiones basada en datos.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 Light"/>
              <a:buChar char="●"/>
            </a:pPr>
            <a:r>
              <a:rPr lang="en-US" sz="180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Impacto esperado: mayor productividad comercial, reducción de información perdida y mejor control financiero.</a:t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None/>
            </a:pPr>
            <a:r>
              <a:t/>
            </a:r>
            <a:endParaRPr sz="22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e5b8e3eec_0_0"/>
          <p:cNvSpPr txBox="1"/>
          <p:nvPr/>
        </p:nvSpPr>
        <p:spPr>
          <a:xfrm>
            <a:off x="2975812" y="2045725"/>
            <a:ext cx="5253300" cy="389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ee5b8e3eec_0_0"/>
          <p:cNvSpPr txBox="1"/>
          <p:nvPr/>
        </p:nvSpPr>
        <p:spPr>
          <a:xfrm>
            <a:off x="3190400" y="1747375"/>
            <a:ext cx="6025800" cy="10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 Light"/>
              <a:buNone/>
            </a:pPr>
            <a:r>
              <a:rPr lang="en-US" sz="4800">
                <a:solidFill>
                  <a:srgbClr val="38AA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Repositorio GitHub</a:t>
            </a:r>
            <a:endParaRPr sz="48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7" name="Google Shape;227;g3ee5b8e3eec_0_0"/>
          <p:cNvSpPr txBox="1"/>
          <p:nvPr/>
        </p:nvSpPr>
        <p:spPr>
          <a:xfrm>
            <a:off x="2637750" y="3312075"/>
            <a:ext cx="6916500" cy="17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 u="sng">
                <a:solidFill>
                  <a:schemeClr val="hlink"/>
                </a:solidFill>
                <a:latin typeface="Work Sans Light"/>
                <a:ea typeface="Work Sans Light"/>
                <a:cs typeface="Work Sans Light"/>
                <a:sym typeface="Work Sans Light"/>
                <a:hlinkClick r:id="rId4"/>
              </a:rPr>
              <a:t>https://github.com/karo0ol/AGRODATA.git</a:t>
            </a:r>
            <a:endParaRPr sz="27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7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 Light"/>
              <a:buNone/>
            </a:pPr>
            <a:r>
              <a:t/>
            </a:r>
            <a:endParaRPr sz="27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232" name="Google Shape;2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5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7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2020-10-01T23:51:00Z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  <property fmtid="{D5CDD505-2E9C-101B-9397-08002B2CF9AE}" pid="9" name="ICV">
    <vt:lpwstr>D9946F425A384EED8DBC357CC8F4B3D1_12</vt:lpwstr>
  </property>
  <property fmtid="{D5CDD505-2E9C-101B-9397-08002B2CF9AE}" pid="10" name="KSOProductBuildVer">
    <vt:lpwstr>2058-12.2.0.23196</vt:lpwstr>
  </property>
</Properties>
</file>